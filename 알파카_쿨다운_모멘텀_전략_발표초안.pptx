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5"/>
    <p:sldId id="259" r:id="rId6"/>
    <p:sldId id="260" r:id="rId7"/>
    <p:sldId id="261" r:id="rId8"/>
    <p:sldId id="262" r:id="rId9"/>
    <p:sldId id="263" r:id="rId10"/>
    <p:sldId id="264" r:id="rId11"/>
    <p:sldId id="268" r:id="rId12"/>
    <p:sldId id="269" r:id="rId13"/>
    <p:sldId id="270" r:id="rId14"/>
    <p:sldId id="271" r:id="rId15"/>
    <p:sldId id="272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A09887-3183-4C48-8EB8-6640C751AEE6}" v="97" dt="2026-02-11T04:51:13.0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3" d="100"/>
          <a:sy n="143" d="100"/>
        </p:scale>
        <p:origin x="936" y="34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호 김" userId="7139bc9231f6643b" providerId="LiveId" clId="{86CB3240-798F-4938-8840-A4DE260C19AE}"/>
    <pc:docChg chg="undo redo custSel addSld delSld modSld">
      <pc:chgData name="동호 김" userId="7139bc9231f6643b" providerId="LiveId" clId="{86CB3240-798F-4938-8840-A4DE260C19AE}" dt="2026-02-11T04:51:13.084" v="943" actId="27636"/>
      <pc:docMkLst>
        <pc:docMk/>
      </pc:docMkLst>
      <pc:sldChg chg="modSp mod">
        <pc:chgData name="동호 김" userId="7139bc9231f6643b" providerId="LiveId" clId="{86CB3240-798F-4938-8840-A4DE260C19AE}" dt="2026-02-11T02:54:11.039" v="359"/>
        <pc:sldMkLst>
          <pc:docMk/>
          <pc:sldMk cId="0" sldId="259"/>
        </pc:sldMkLst>
        <pc:spChg chg="mod">
          <ac:chgData name="동호 김" userId="7139bc9231f6643b" providerId="LiveId" clId="{86CB3240-798F-4938-8840-A4DE260C19AE}" dt="2026-02-11T01:03:23.398" v="211" actId="27636"/>
          <ac:spMkLst>
            <pc:docMk/>
            <pc:sldMk cId="0" sldId="259"/>
            <ac:spMk id="2" creationId="{00000000-0000-0000-0000-000000000000}"/>
          </ac:spMkLst>
        </pc:spChg>
        <pc:spChg chg="mod">
          <ac:chgData name="동호 김" userId="7139bc9231f6643b" providerId="LiveId" clId="{86CB3240-798F-4938-8840-A4DE260C19AE}" dt="2026-02-11T02:54:11.039" v="359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1T03:23:19.065" v="380" actId="27636"/>
        <pc:sldMkLst>
          <pc:docMk/>
          <pc:sldMk cId="0" sldId="260"/>
        </pc:sldMkLst>
        <pc:spChg chg="mod">
          <ac:chgData name="동호 김" userId="7139bc9231f6643b" providerId="LiveId" clId="{86CB3240-798F-4938-8840-A4DE260C19AE}" dt="2026-02-11T03:23:19.065" v="380" actId="27636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1T04:50:57.267" v="940" actId="27636"/>
        <pc:sldMkLst>
          <pc:docMk/>
          <pc:sldMk cId="0" sldId="261"/>
        </pc:sldMkLst>
        <pc:spChg chg="mod">
          <ac:chgData name="동호 김" userId="7139bc9231f6643b" providerId="LiveId" clId="{86CB3240-798F-4938-8840-A4DE260C19AE}" dt="2026-02-11T04:50:57.267" v="940" actId="27636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1T04:51:13.084" v="943" actId="27636"/>
        <pc:sldMkLst>
          <pc:docMk/>
          <pc:sldMk cId="0" sldId="262"/>
        </pc:sldMkLst>
        <pc:spChg chg="mod">
          <ac:chgData name="동호 김" userId="7139bc9231f6643b" providerId="LiveId" clId="{86CB3240-798F-4938-8840-A4DE260C19AE}" dt="2026-02-11T04:51:13.084" v="943" actId="27636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1T00:58:43.990" v="112" actId="27636"/>
        <pc:sldMkLst>
          <pc:docMk/>
          <pc:sldMk cId="0" sldId="263"/>
        </pc:sldMkLst>
        <pc:spChg chg="mod">
          <ac:chgData name="동호 김" userId="7139bc9231f6643b" providerId="LiveId" clId="{86CB3240-798F-4938-8840-A4DE260C19AE}" dt="2026-02-11T00:58:43.990" v="112" actId="27636"/>
          <ac:spMkLst>
            <pc:docMk/>
            <pc:sldMk cId="0" sldId="263"/>
            <ac:spMk id="3" creationId="{00000000-0000-0000-0000-000000000000}"/>
          </ac:spMkLst>
        </pc:spChg>
      </pc:sldChg>
      <pc:sldChg chg="modSp">
        <pc:chgData name="동호 김" userId="7139bc9231f6643b" providerId="LiveId" clId="{86CB3240-798F-4938-8840-A4DE260C19AE}" dt="2026-02-11T04:32:31.933" v="819"/>
        <pc:sldMkLst>
          <pc:docMk/>
          <pc:sldMk cId="0" sldId="265"/>
        </pc:sldMkLst>
        <pc:spChg chg="mod">
          <ac:chgData name="동호 김" userId="7139bc9231f6643b" providerId="LiveId" clId="{86CB3240-798F-4938-8840-A4DE260C19AE}" dt="2026-02-11T04:32:31.933" v="819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1T04:34:45.276" v="821" actId="27636"/>
        <pc:sldMkLst>
          <pc:docMk/>
          <pc:sldMk cId="0" sldId="266"/>
        </pc:sldMkLst>
        <pc:spChg chg="mod">
          <ac:chgData name="동호 김" userId="7139bc9231f6643b" providerId="LiveId" clId="{86CB3240-798F-4938-8840-A4DE260C19AE}" dt="2026-02-11T04:34:45.276" v="821" actId="27636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1T04:36:56.193" v="823" actId="27636"/>
        <pc:sldMkLst>
          <pc:docMk/>
          <pc:sldMk cId="0" sldId="267"/>
        </pc:sldMkLst>
        <pc:spChg chg="mod">
          <ac:chgData name="동호 김" userId="7139bc9231f6643b" providerId="LiveId" clId="{86CB3240-798F-4938-8840-A4DE260C19AE}" dt="2026-02-11T04:36:56.193" v="82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add mod">
        <pc:chgData name="동호 김" userId="7139bc9231f6643b" providerId="LiveId" clId="{86CB3240-798F-4938-8840-A4DE260C19AE}" dt="2026-02-11T03:36:51.728" v="394" actId="20577"/>
        <pc:sldMkLst>
          <pc:docMk/>
          <pc:sldMk cId="3219139844" sldId="268"/>
        </pc:sldMkLst>
        <pc:spChg chg="mod">
          <ac:chgData name="동호 김" userId="7139bc9231f6643b" providerId="LiveId" clId="{86CB3240-798F-4938-8840-A4DE260C19AE}" dt="2026-02-11T03:36:26.840" v="382"/>
          <ac:spMkLst>
            <pc:docMk/>
            <pc:sldMk cId="3219139844" sldId="268"/>
            <ac:spMk id="2" creationId="{6549D877-9663-C351-614A-C4F9F52BC7FC}"/>
          </ac:spMkLst>
        </pc:spChg>
        <pc:spChg chg="mod">
          <ac:chgData name="동호 김" userId="7139bc9231f6643b" providerId="LiveId" clId="{86CB3240-798F-4938-8840-A4DE260C19AE}" dt="2026-02-11T03:36:51.728" v="394" actId="20577"/>
          <ac:spMkLst>
            <pc:docMk/>
            <pc:sldMk cId="3219139844" sldId="268"/>
            <ac:spMk id="3" creationId="{6C2B438A-3282-1B1C-81AC-091C021DC9EB}"/>
          </ac:spMkLst>
        </pc:spChg>
      </pc:sldChg>
      <pc:sldChg chg="add del">
        <pc:chgData name="동호 김" userId="7139bc9231f6643b" providerId="LiveId" clId="{86CB3240-798F-4938-8840-A4DE260C19AE}" dt="2026-02-11T00:55:31.520" v="11" actId="47"/>
        <pc:sldMkLst>
          <pc:docMk/>
          <pc:sldMk cId="3487787269" sldId="268"/>
        </pc:sldMkLst>
      </pc:sldChg>
      <pc:sldChg chg="addSp delSp modSp add mod">
        <pc:chgData name="동호 김" userId="7139bc9231f6643b" providerId="LiveId" clId="{86CB3240-798F-4938-8840-A4DE260C19AE}" dt="2026-02-11T04:02:35.863" v="609"/>
        <pc:sldMkLst>
          <pc:docMk/>
          <pc:sldMk cId="2311830801" sldId="269"/>
        </pc:sldMkLst>
        <pc:spChg chg="mod">
          <ac:chgData name="동호 김" userId="7139bc9231f6643b" providerId="LiveId" clId="{86CB3240-798F-4938-8840-A4DE260C19AE}" dt="2026-02-11T04:00:52.147" v="604" actId="6549"/>
          <ac:spMkLst>
            <pc:docMk/>
            <pc:sldMk cId="2311830801" sldId="269"/>
            <ac:spMk id="2" creationId="{83A51FAB-BBDE-A27C-CF0B-31DACBF7556F}"/>
          </ac:spMkLst>
        </pc:spChg>
        <pc:spChg chg="del mod">
          <ac:chgData name="동호 김" userId="7139bc9231f6643b" providerId="LiveId" clId="{86CB3240-798F-4938-8840-A4DE260C19AE}" dt="2026-02-11T03:39:45.181" v="407"/>
          <ac:spMkLst>
            <pc:docMk/>
            <pc:sldMk cId="2311830801" sldId="269"/>
            <ac:spMk id="3" creationId="{D5CCBDCC-C32E-EFF2-13BA-0C628D846D09}"/>
          </ac:spMkLst>
        </pc:spChg>
        <pc:spChg chg="add del mod">
          <ac:chgData name="동호 김" userId="7139bc9231f6643b" providerId="LiveId" clId="{86CB3240-798F-4938-8840-A4DE260C19AE}" dt="2026-02-11T03:40:08.385" v="411" actId="478"/>
          <ac:spMkLst>
            <pc:docMk/>
            <pc:sldMk cId="2311830801" sldId="269"/>
            <ac:spMk id="6" creationId="{29B2B116-47DE-02A9-CE07-2528D8A298F6}"/>
          </ac:spMkLst>
        </pc:spChg>
        <pc:spChg chg="add mod">
          <ac:chgData name="동호 김" userId="7139bc9231f6643b" providerId="LiveId" clId="{86CB3240-798F-4938-8840-A4DE260C19AE}" dt="2026-02-11T03:45:24.204" v="520" actId="1076"/>
          <ac:spMkLst>
            <pc:docMk/>
            <pc:sldMk cId="2311830801" sldId="269"/>
            <ac:spMk id="7" creationId="{AD35D5E4-DF9F-2CD6-B003-7D2C2F6A6411}"/>
          </ac:spMkLst>
        </pc:spChg>
        <pc:spChg chg="add mod">
          <ac:chgData name="동호 김" userId="7139bc9231f6643b" providerId="LiveId" clId="{86CB3240-798F-4938-8840-A4DE260C19AE}" dt="2026-02-11T03:52:01.663" v="560" actId="208"/>
          <ac:spMkLst>
            <pc:docMk/>
            <pc:sldMk cId="2311830801" sldId="269"/>
            <ac:spMk id="8" creationId="{6394B49D-DCB7-D2D3-585D-1A6694FBAD71}"/>
          </ac:spMkLst>
        </pc:spChg>
        <pc:graphicFrameChg chg="add mod modGraphic">
          <ac:chgData name="동호 김" userId="7139bc9231f6643b" providerId="LiveId" clId="{86CB3240-798F-4938-8840-A4DE260C19AE}" dt="2026-02-11T04:02:35.863" v="609"/>
          <ac:graphicFrameMkLst>
            <pc:docMk/>
            <pc:sldMk cId="2311830801" sldId="269"/>
            <ac:graphicFrameMk id="5" creationId="{26BE20B2-CC2D-108F-CF8A-C70485AAF8DE}"/>
          </ac:graphicFrameMkLst>
        </pc:graphicFrameChg>
      </pc:sldChg>
      <pc:sldChg chg="modSp add mod">
        <pc:chgData name="동호 김" userId="7139bc9231f6643b" providerId="LiveId" clId="{86CB3240-798F-4938-8840-A4DE260C19AE}" dt="2026-02-11T04:00:48.426" v="603" actId="20577"/>
        <pc:sldMkLst>
          <pc:docMk/>
          <pc:sldMk cId="312114733" sldId="270"/>
        </pc:sldMkLst>
        <pc:spChg chg="mod">
          <ac:chgData name="동호 김" userId="7139bc9231f6643b" providerId="LiveId" clId="{86CB3240-798F-4938-8840-A4DE260C19AE}" dt="2026-02-11T04:00:48.426" v="603" actId="20577"/>
          <ac:spMkLst>
            <pc:docMk/>
            <pc:sldMk cId="312114733" sldId="270"/>
            <ac:spMk id="2" creationId="{990B7138-9D6A-6ED5-04D5-701760A737E2}"/>
          </ac:spMkLst>
        </pc:spChg>
        <pc:spChg chg="mod">
          <ac:chgData name="동호 김" userId="7139bc9231f6643b" providerId="LiveId" clId="{86CB3240-798F-4938-8840-A4DE260C19AE}" dt="2026-02-11T03:59:15.602" v="602" actId="27636"/>
          <ac:spMkLst>
            <pc:docMk/>
            <pc:sldMk cId="312114733" sldId="270"/>
            <ac:spMk id="3" creationId="{2DB8C77E-347E-B3AD-3667-3741BE6DC427}"/>
          </ac:spMkLst>
        </pc:spChg>
      </pc:sldChg>
      <pc:sldChg chg="addSp modSp add mod">
        <pc:chgData name="동호 김" userId="7139bc9231f6643b" providerId="LiveId" clId="{86CB3240-798F-4938-8840-A4DE260C19AE}" dt="2026-02-11T04:17:04.008" v="751" actId="120"/>
        <pc:sldMkLst>
          <pc:docMk/>
          <pc:sldMk cId="4019899489" sldId="271"/>
        </pc:sldMkLst>
        <pc:spChg chg="mod">
          <ac:chgData name="동호 김" userId="7139bc9231f6643b" providerId="LiveId" clId="{86CB3240-798F-4938-8840-A4DE260C19AE}" dt="2026-02-11T04:11:03.047" v="612" actId="27636"/>
          <ac:spMkLst>
            <pc:docMk/>
            <pc:sldMk cId="4019899489" sldId="271"/>
            <ac:spMk id="2" creationId="{00EAFF9A-37B6-F1E0-B413-ACA993880345}"/>
          </ac:spMkLst>
        </pc:spChg>
        <pc:spChg chg="mod">
          <ac:chgData name="동호 김" userId="7139bc9231f6643b" providerId="LiveId" clId="{86CB3240-798F-4938-8840-A4DE260C19AE}" dt="2026-02-11T04:17:04.008" v="751" actId="120"/>
          <ac:spMkLst>
            <pc:docMk/>
            <pc:sldMk cId="4019899489" sldId="271"/>
            <ac:spMk id="3" creationId="{4FA17890-31EA-BF96-DA98-C4F86744D842}"/>
          </ac:spMkLst>
        </pc:spChg>
        <pc:spChg chg="add mod">
          <ac:chgData name="동호 김" userId="7139bc9231f6643b" providerId="LiveId" clId="{86CB3240-798F-4938-8840-A4DE260C19AE}" dt="2026-02-11T04:16:37.660" v="749" actId="403"/>
          <ac:spMkLst>
            <pc:docMk/>
            <pc:sldMk cId="4019899489" sldId="271"/>
            <ac:spMk id="7" creationId="{C61F1D45-C99A-805D-3236-3F7D25ADA2A6}"/>
          </ac:spMkLst>
        </pc:spChg>
        <pc:picChg chg="add mod">
          <ac:chgData name="동호 김" userId="7139bc9231f6643b" providerId="LiveId" clId="{86CB3240-798F-4938-8840-A4DE260C19AE}" dt="2026-02-11T04:12:08.949" v="632" actId="1076"/>
          <ac:picMkLst>
            <pc:docMk/>
            <pc:sldMk cId="4019899489" sldId="271"/>
            <ac:picMk id="6" creationId="{0A4A8FAE-2876-CA19-E6B2-027825D2B78E}"/>
          </ac:picMkLst>
        </pc:picChg>
      </pc:sldChg>
      <pc:sldChg chg="addSp delSp modSp add mod">
        <pc:chgData name="동호 김" userId="7139bc9231f6643b" providerId="LiveId" clId="{86CB3240-798F-4938-8840-A4DE260C19AE}" dt="2026-02-11T04:29:27.941" v="818" actId="207"/>
        <pc:sldMkLst>
          <pc:docMk/>
          <pc:sldMk cId="413681719" sldId="272"/>
        </pc:sldMkLst>
        <pc:spChg chg="mod">
          <ac:chgData name="동호 김" userId="7139bc9231f6643b" providerId="LiveId" clId="{86CB3240-798F-4938-8840-A4DE260C19AE}" dt="2026-02-11T04:19:35.536" v="753"/>
          <ac:spMkLst>
            <pc:docMk/>
            <pc:sldMk cId="413681719" sldId="272"/>
            <ac:spMk id="2" creationId="{3285B3B4-DCEA-8CFF-9C92-C6DC4D8141D5}"/>
          </ac:spMkLst>
        </pc:spChg>
        <pc:spChg chg="del mod">
          <ac:chgData name="동호 김" userId="7139bc9231f6643b" providerId="LiveId" clId="{86CB3240-798F-4938-8840-A4DE260C19AE}" dt="2026-02-11T04:20:25.903" v="755"/>
          <ac:spMkLst>
            <pc:docMk/>
            <pc:sldMk cId="413681719" sldId="272"/>
            <ac:spMk id="3" creationId="{3B072E91-9207-6CFA-001E-25A84A4D4887}"/>
          </ac:spMkLst>
        </pc:spChg>
        <pc:spChg chg="add mod">
          <ac:chgData name="동호 김" userId="7139bc9231f6643b" providerId="LiveId" clId="{86CB3240-798F-4938-8840-A4DE260C19AE}" dt="2026-02-11T04:27:13.795" v="809" actId="120"/>
          <ac:spMkLst>
            <pc:docMk/>
            <pc:sldMk cId="413681719" sldId="272"/>
            <ac:spMk id="6" creationId="{A097E72C-B434-0D53-94E8-52B132714E2F}"/>
          </ac:spMkLst>
        </pc:spChg>
        <pc:graphicFrameChg chg="add mod modGraphic">
          <ac:chgData name="동호 김" userId="7139bc9231f6643b" providerId="LiveId" clId="{86CB3240-798F-4938-8840-A4DE260C19AE}" dt="2026-02-11T04:29:27.941" v="818" actId="207"/>
          <ac:graphicFrameMkLst>
            <pc:docMk/>
            <pc:sldMk cId="413681719" sldId="272"/>
            <ac:graphicFrameMk id="5" creationId="{A8571426-5C93-D73E-BAD3-BD70129461C8}"/>
          </ac:graphicFrameMkLst>
        </pc:graphicFrameChg>
      </pc:sldChg>
      <pc:sldChg chg="modSp add mod">
        <pc:chgData name="동호 김" userId="7139bc9231f6643b" providerId="LiveId" clId="{86CB3240-798F-4938-8840-A4DE260C19AE}" dt="2026-02-11T04:43:02.234" v="937" actId="27636"/>
        <pc:sldMkLst>
          <pc:docMk/>
          <pc:sldMk cId="2933267948" sldId="273"/>
        </pc:sldMkLst>
        <pc:spChg chg="mod">
          <ac:chgData name="동호 김" userId="7139bc9231f6643b" providerId="LiveId" clId="{86CB3240-798F-4938-8840-A4DE260C19AE}" dt="2026-02-11T04:40:04.391" v="855"/>
          <ac:spMkLst>
            <pc:docMk/>
            <pc:sldMk cId="2933267948" sldId="273"/>
            <ac:spMk id="2" creationId="{FA887EED-3877-39E8-A31E-1B68541C960A}"/>
          </ac:spMkLst>
        </pc:spChg>
        <pc:spChg chg="mod">
          <ac:chgData name="동호 김" userId="7139bc9231f6643b" providerId="LiveId" clId="{86CB3240-798F-4938-8840-A4DE260C19AE}" dt="2026-02-11T04:43:02.234" v="937" actId="27636"/>
          <ac:spMkLst>
            <pc:docMk/>
            <pc:sldMk cId="2933267948" sldId="273"/>
            <ac:spMk id="3" creationId="{3B575BB7-D2E4-7F8A-4851-43BAC37012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0590" y="1301970"/>
            <a:ext cx="9870820" cy="1470025"/>
          </a:xfrm>
        </p:spPr>
        <p:txBody>
          <a:bodyPr>
            <a:normAutofit/>
          </a:bodyPr>
          <a:lstStyle/>
          <a:p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알파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탐색을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위한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투자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인디케이터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개발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2865438"/>
            <a:ext cx="6400800" cy="563563"/>
          </a:xfrm>
        </p:spPr>
        <p:txBody>
          <a:bodyPr>
            <a:normAutofit/>
          </a:bodyPr>
          <a:lstStyle/>
          <a:p>
            <a:r>
              <a:rPr sz="2800" err="1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</a:t>
            </a:r>
            <a:r>
              <a:rPr sz="28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2800" err="1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모멘텀</a:t>
            </a:r>
            <a:r>
              <a:rPr sz="28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2800" err="1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기반</a:t>
            </a:r>
            <a:r>
              <a:rPr sz="28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Top-N </a:t>
            </a:r>
            <a:r>
              <a:rPr sz="2800" err="1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리밸런싱</a:t>
            </a:r>
            <a:r>
              <a:rPr sz="28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2800" err="1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전략</a:t>
            </a:r>
            <a:endParaRPr sz="2800">
              <a:solidFill>
                <a:schemeClr val="tx1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3A65714-30DB-D079-A2D8-57832ED4AFAF}"/>
              </a:ext>
            </a:extLst>
          </p:cNvPr>
          <p:cNvSpPr txBox="1">
            <a:spLocks/>
          </p:cNvSpPr>
          <p:nvPr/>
        </p:nvSpPr>
        <p:spPr>
          <a:xfrm>
            <a:off x="2895600" y="5462589"/>
            <a:ext cx="6400800" cy="563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1</a:t>
            </a:r>
            <a:r>
              <a:rPr lang="ko-KR" altLang="en-US" sz="24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조 </a:t>
            </a:r>
            <a:r>
              <a:rPr lang="en-US" altLang="ko-KR" sz="24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– </a:t>
            </a:r>
            <a:r>
              <a:rPr lang="ko-KR" altLang="en-US" sz="2400"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팀 알파카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프로젝트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배경과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문제의식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퀀트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전략의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핵심은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유효한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인디케이터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탐색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모멘텀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전략은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검증된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팩터이나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단점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존재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본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프로젝트는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구조적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개선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아이디어를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검증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EB7E866-2687-EDA2-BF5A-396BF41BB8DA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프로젝트 목표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코스피 유니버스에서 모멘텀 기반 알파 탐색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룩어헤드 편향 제거 백테스트 엔진 구현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 제약 효과 분석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F1E7F83-80DB-FC6F-79B6-EF9B264D7C0B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ACDE-C757-77E0-0BD5-7C068FD32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87EED-3877-39E8-A31E-1B68541C9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팀 구성 및 역할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75BB7-D2E4-7F8A-4851-43BAC3701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70000" lnSpcReduction="2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고현주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기술적 분석 및 전략 설계</a:t>
            </a:r>
            <a:endParaRPr lang="en-US" altLang="ko-KR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최재혁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기술적 분석 및 전략 설계</a:t>
            </a:r>
            <a:endParaRPr lang="en-US" altLang="ko-KR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박준호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매크로 분석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김재무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기본적 분석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홍지훈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백테스트 및 성과 분석</a:t>
            </a:r>
            <a:endParaRPr lang="en-US" altLang="ko-KR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김동호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보고서 작성 및 발표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A6CEB9EA-0970-95D5-86E6-3804C1147006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3267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/>
              <a:t>데이터 및 유니버스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코스피 중대형주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시가총액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5000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억 이상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2023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년초 기준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287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종목 추출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데이터</a:t>
            </a:r>
            <a:r>
              <a:rPr 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소스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KRX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(pykrx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모듈 사용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데이터 기간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2010-01-01 ~ 2025-12-31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A1D9BD8-37AD-5A42-2819-50BEF619B35C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모멘텀 인디케이터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중기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(6-1)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와 중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장기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(12-1)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모멘텀을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50:50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으로 혼합</a:t>
            </a:r>
            <a:endParaRPr lang="en-US" altLang="ko-KR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단일 모멘텀의 노이즈와 지연 효과를 상호 보완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월말 기준 수익률, 당월 데이터 제외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69CB3CC-4BD2-B08D-B537-3821C1620825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투자전략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모멘텀 상위 N개 종목 선정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동일비중 포트폴리오 구성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월별 리밸런싱 수행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기본적인 모멘텀 추종 전략 구조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7A3CBAA-302D-354E-AE2A-80B56434425D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</a:t>
            </a:r>
            <a:r>
              <a:rPr 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(Cooldown)</a:t>
            </a:r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메커니즘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매수 후 </a:t>
            </a:r>
            <a:r>
              <a:rPr 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N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개월간 매도 제한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과도한 종목 교체 방지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거래비용 및 노이즈 완화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모멘텀 전략의 구조적 약점 보완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A268E659-9D7E-1F1F-1B69-D85CF78172CB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백테스트 설계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신호 시점과 체결 시점 분리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전월 말 정보로 신호 생성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익월 첫 거래일 종가 체결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월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1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회 리밸런싱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,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편도 비용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0.3%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65D6D48-3B1B-C167-A58A-9040EFBD23EB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성과 지표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누적수익률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, CAGR, MDD, Sharpe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연간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회전율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산출</a:t>
            </a:r>
            <a:endParaRPr lang="en-US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전략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특성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종합</a:t>
            </a:r>
            <a:r>
              <a:rPr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sz="360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평가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F809B9F8-8BEE-B6AE-AE9A-D1D8DB764017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049A2-D017-806B-4618-C96E0750A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9D877-9663-C351-614A-C4F9F52BC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파라미터 탐색 </a:t>
            </a:r>
            <a:r>
              <a:rPr lang="en-US" altLang="ko-KR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Grid Search)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438A-3282-1B1C-81AC-091C021D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보유 종목 수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3 ~ 10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종목</a:t>
            </a:r>
            <a:endParaRPr lang="en-US" altLang="ko-KR"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 기간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3 ~ 6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개월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총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32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가지 파라미터 조합에 대해 그리드 서치 수행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56D8C62-2AAD-A6EA-4703-8584EFA6D28E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9139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48C43-B7EE-8626-1033-FD9EF0E9A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51FAB-BBDE-A27C-CF0B-31DACBF75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Grid Search </a:t>
            </a:r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결과 </a:t>
            </a:r>
            <a:r>
              <a:rPr lang="en-US" altLang="ko-KR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상위 성과 조합</a:t>
            </a:r>
            <a:r>
              <a:rPr lang="en-US" altLang="ko-KR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26BE20B2-CC2D-108F-CF8A-C70485AAF8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8549504"/>
              </p:ext>
            </p:extLst>
          </p:nvPr>
        </p:nvGraphicFramePr>
        <p:xfrm>
          <a:off x="822625" y="2254029"/>
          <a:ext cx="10546749" cy="4317353"/>
        </p:xfrm>
        <a:graphic>
          <a:graphicData uri="http://schemas.openxmlformats.org/drawingml/2006/table">
            <a:tbl>
              <a:tblPr/>
              <a:tblGrid>
                <a:gridCol w="884035">
                  <a:extLst>
                    <a:ext uri="{9D8B030D-6E8A-4147-A177-3AD203B41FA5}">
                      <a16:colId xmlns:a16="http://schemas.microsoft.com/office/drawing/2014/main" val="4130061223"/>
                    </a:ext>
                  </a:extLst>
                </a:gridCol>
                <a:gridCol w="1343185">
                  <a:extLst>
                    <a:ext uri="{9D8B030D-6E8A-4147-A177-3AD203B41FA5}">
                      <a16:colId xmlns:a16="http://schemas.microsoft.com/office/drawing/2014/main" val="3092824900"/>
                    </a:ext>
                  </a:extLst>
                </a:gridCol>
                <a:gridCol w="1288363">
                  <a:extLst>
                    <a:ext uri="{9D8B030D-6E8A-4147-A177-3AD203B41FA5}">
                      <a16:colId xmlns:a16="http://schemas.microsoft.com/office/drawing/2014/main" val="3259881353"/>
                    </a:ext>
                  </a:extLst>
                </a:gridCol>
                <a:gridCol w="1171861">
                  <a:extLst>
                    <a:ext uri="{9D8B030D-6E8A-4147-A177-3AD203B41FA5}">
                      <a16:colId xmlns:a16="http://schemas.microsoft.com/office/drawing/2014/main" val="53006540"/>
                    </a:ext>
                  </a:extLst>
                </a:gridCol>
                <a:gridCol w="1171861">
                  <a:extLst>
                    <a:ext uri="{9D8B030D-6E8A-4147-A177-3AD203B41FA5}">
                      <a16:colId xmlns:a16="http://schemas.microsoft.com/office/drawing/2014/main" val="3885622504"/>
                    </a:ext>
                  </a:extLst>
                </a:gridCol>
                <a:gridCol w="1171861">
                  <a:extLst>
                    <a:ext uri="{9D8B030D-6E8A-4147-A177-3AD203B41FA5}">
                      <a16:colId xmlns:a16="http://schemas.microsoft.com/office/drawing/2014/main" val="4122090251"/>
                    </a:ext>
                  </a:extLst>
                </a:gridCol>
                <a:gridCol w="1171861">
                  <a:extLst>
                    <a:ext uri="{9D8B030D-6E8A-4147-A177-3AD203B41FA5}">
                      <a16:colId xmlns:a16="http://schemas.microsoft.com/office/drawing/2014/main" val="1058517162"/>
                    </a:ext>
                  </a:extLst>
                </a:gridCol>
                <a:gridCol w="1171861">
                  <a:extLst>
                    <a:ext uri="{9D8B030D-6E8A-4147-A177-3AD203B41FA5}">
                      <a16:colId xmlns:a16="http://schemas.microsoft.com/office/drawing/2014/main" val="2839344305"/>
                    </a:ext>
                  </a:extLst>
                </a:gridCol>
                <a:gridCol w="1171861">
                  <a:extLst>
                    <a:ext uri="{9D8B030D-6E8A-4147-A177-3AD203B41FA5}">
                      <a16:colId xmlns:a16="http://schemas.microsoft.com/office/drawing/2014/main" val="3495974891"/>
                    </a:ext>
                  </a:extLst>
                </a:gridCol>
              </a:tblGrid>
              <a:tr h="37187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순위 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보유종목수</a:t>
                      </a:r>
                      <a:endParaRPr lang="en-US" sz="1400">
                        <a:effectLst/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쿨다운</a:t>
                      </a:r>
                      <a:endParaRPr lang="en-US" sz="1400">
                        <a:effectLst/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CAGR(%)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MDD(%)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Sharpe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Calmar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Turnover(%)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WinRate(%)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739566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8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8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+24.41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-42.37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0.80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0.576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223.1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55.1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901721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+20.84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-40.55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0.76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0.514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213.9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54.5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3967686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3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8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+20.97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-41.86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0.72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0.501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205.2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52.2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831345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3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+28.22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-58.94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0.72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0.479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174.0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51.1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286902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+20.63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-43.30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0.73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0.476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230.9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54.5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987319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6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+20.44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-44.41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0.72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0.460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208.1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54.5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906845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7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+19.31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-42.10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0.70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0.459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261.0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53.4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8493422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8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10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+18.82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-41.43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0.69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0.454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235.5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55.6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635302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9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6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+21.18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-46.77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0.69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0.453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230.8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52.2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654134"/>
                  </a:ext>
                </a:extLst>
              </a:tr>
              <a:tr h="3945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10</a:t>
                      </a:r>
                    </a:p>
                  </a:txBody>
                  <a:tcPr marL="45350" marR="45350" marT="22675" marB="226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8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+19.87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-46.91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solidFill>
                            <a:schemeClr val="tx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0.69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0.424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253.2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53.9</a:t>
                      </a:r>
                    </a:p>
                  </a:txBody>
                  <a:tcPr marL="34013" marR="34013" marT="34013" marB="340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851380"/>
                  </a:ext>
                </a:extLst>
              </a:tr>
            </a:tbl>
          </a:graphicData>
        </a:graphic>
      </p:graphicFrame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E2D79A3-640A-8DBB-EF4F-9C8230022609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D35D5E4-DF9F-2CD6-B003-7D2C2F6A6411}"/>
              </a:ext>
            </a:extLst>
          </p:cNvPr>
          <p:cNvSpPr txBox="1">
            <a:spLocks/>
          </p:cNvSpPr>
          <p:nvPr/>
        </p:nvSpPr>
        <p:spPr>
          <a:xfrm>
            <a:off x="609600" y="1540849"/>
            <a:ext cx="10972800" cy="6157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Grid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Search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수행 결과 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(Calmar 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기준 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Top 10)</a:t>
            </a:r>
            <a:endParaRPr lang="ko-KR" altLang="en-US" sz="24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4B49D-DCB7-D2D3-585D-1A6694FBAD71}"/>
              </a:ext>
            </a:extLst>
          </p:cNvPr>
          <p:cNvSpPr/>
          <p:nvPr/>
        </p:nvSpPr>
        <p:spPr>
          <a:xfrm>
            <a:off x="822625" y="2623060"/>
            <a:ext cx="10546749" cy="40046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1830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BF0E2-8EBF-7DDA-D643-5337D6BBB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B7138-9D6A-6ED5-04D5-701760A73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파라미터 민감도 분석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8C77E-347E-B3AD-3667-3741BE6DC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01" y="1600201"/>
            <a:ext cx="11620221" cy="4525963"/>
          </a:xfrm>
        </p:spPr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보유 종목 수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(N)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는 수익률보다 리스크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(MDD)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에 더 큰 영향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N=8~10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구간에서 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Sharpe·Calmar 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기준 안정성 우수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 기간 증가는 거래 회전율을 일관되게 감소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쿨다운이 과도할 경우 추세 반응성 저하 가능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5463061-4651-D89C-0833-F83E845947DB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14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6F1C-263C-0FD3-9224-4BA47C642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AFF9A-37B6-F1E0-B413-ACA993880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대표 파라미터 조합 성과 </a:t>
            </a:r>
            <a:r>
              <a:rPr lang="en-US" altLang="ko-KR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(N=8, Cooldown=5)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17890-31EA-BF96-DA98-C4F86744D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815" y="1678628"/>
            <a:ext cx="2089103" cy="4525963"/>
          </a:xfrm>
        </p:spPr>
        <p:txBody>
          <a:bodyPr anchor="ctr">
            <a:normAutofit fontScale="92500"/>
          </a:bodyPr>
          <a:lstStyle/>
          <a:p>
            <a:pPr marL="162900" indent="0">
              <a:lnSpc>
                <a:spcPct val="200000"/>
              </a:lnSpc>
              <a:buNone/>
            </a:pP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백테스트 기간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CAGR: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MDD: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Sharpe: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연간 회전율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누적 수익률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</a:t>
            </a:r>
            <a:endParaRPr sz="24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481934C-9ABE-43A9-C9CF-3DA7484AB709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도표, 그래프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4A8FAE-2876-CA19-E6B2-027825D2B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042" y="1600201"/>
            <a:ext cx="6742631" cy="5029199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1F1D45-C99A-805D-3236-3F7D25ADA2A6}"/>
              </a:ext>
            </a:extLst>
          </p:cNvPr>
          <p:cNvSpPr txBox="1">
            <a:spLocks/>
          </p:cNvSpPr>
          <p:nvPr/>
        </p:nvSpPr>
        <p:spPr>
          <a:xfrm>
            <a:off x="2074645" y="1678628"/>
            <a:ext cx="6251737" cy="4525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2011.02 ~ 2025.12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24.4%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-42.4%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0.80</a:t>
            </a:r>
            <a:endParaRPr lang="ko-KR" altLang="en-US" sz="24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223%</a:t>
            </a:r>
          </a:p>
          <a:p>
            <a:pPr marL="16290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+2453%</a:t>
            </a:r>
            <a:endParaRPr lang="ko-KR" altLang="en-US" sz="24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9899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27E50-8489-EA27-0440-B0410AA46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5B3B4-DCEA-8CFF-9C92-C6DC4D814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연도별 성과 분포와 구조적 특성</a:t>
            </a:r>
            <a:endParaRPr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A8571426-5C93-D73E-BAD3-BD70129461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7463684"/>
              </p:ext>
            </p:extLst>
          </p:nvPr>
        </p:nvGraphicFramePr>
        <p:xfrm>
          <a:off x="1156545" y="1568495"/>
          <a:ext cx="4463346" cy="5182299"/>
        </p:xfrm>
        <a:graphic>
          <a:graphicData uri="http://schemas.openxmlformats.org/drawingml/2006/table">
            <a:tbl>
              <a:tblPr/>
              <a:tblGrid>
                <a:gridCol w="1487782">
                  <a:extLst>
                    <a:ext uri="{9D8B030D-6E8A-4147-A177-3AD203B41FA5}">
                      <a16:colId xmlns:a16="http://schemas.microsoft.com/office/drawing/2014/main" val="18885768"/>
                    </a:ext>
                  </a:extLst>
                </a:gridCol>
                <a:gridCol w="1487782">
                  <a:extLst>
                    <a:ext uri="{9D8B030D-6E8A-4147-A177-3AD203B41FA5}">
                      <a16:colId xmlns:a16="http://schemas.microsoft.com/office/drawing/2014/main" val="2988572265"/>
                    </a:ext>
                  </a:extLst>
                </a:gridCol>
                <a:gridCol w="1487782">
                  <a:extLst>
                    <a:ext uri="{9D8B030D-6E8A-4147-A177-3AD203B41FA5}">
                      <a16:colId xmlns:a16="http://schemas.microsoft.com/office/drawing/2014/main" val="4136158166"/>
                    </a:ext>
                  </a:extLst>
                </a:gridCol>
              </a:tblGrid>
              <a:tr h="2676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연도</a:t>
                      </a:r>
                    </a:p>
                  </a:txBody>
                  <a:tcPr marL="51083" marR="51083" marT="25542" marB="255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수익률</a:t>
                      </a:r>
                      <a:r>
                        <a:rPr lang="en-US" altLang="ko-KR" sz="16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(%)</a:t>
                      </a:r>
                    </a:p>
                  </a:txBody>
                  <a:tcPr marL="51083" marR="51083" marT="25542" marB="255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MDD(%)</a:t>
                      </a:r>
                    </a:p>
                  </a:txBody>
                  <a:tcPr marL="51083" marR="51083" marT="25542" marB="255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68424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2011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0.00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0.00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961138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2012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-9.70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-15.46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7077248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2013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22.52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-20.29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217672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26.45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-8.43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9112638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2015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139.91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-4.14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759627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2016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-1.04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-21.16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994590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2017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42.18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-6.94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5719403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2018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1.83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-24.61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789806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2019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4.26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-8.26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266772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2020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96.83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-21.54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5825200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2021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-2.28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-12.82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826088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2022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-12.59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-29.85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2040486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2023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-1.54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-42.37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3221717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2024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56.55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-11.90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0200680"/>
                  </a:ext>
                </a:extLst>
              </a:tr>
              <a:tr h="325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2025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96.47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-20.34</a:t>
                      </a:r>
                    </a:p>
                  </a:txBody>
                  <a:tcPr marL="51083" marR="51083" marT="51083" marB="51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565096"/>
                  </a:ext>
                </a:extLst>
              </a:tr>
            </a:tbl>
          </a:graphicData>
        </a:graphic>
      </p:graphicFrame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F57C86C-13A6-B83C-8F58-93C84ADF0E81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097E72C-B434-0D53-94E8-52B132714E2F}"/>
              </a:ext>
            </a:extLst>
          </p:cNvPr>
          <p:cNvSpPr txBox="1">
            <a:spLocks/>
          </p:cNvSpPr>
          <p:nvPr/>
        </p:nvSpPr>
        <p:spPr>
          <a:xfrm>
            <a:off x="6454196" y="1508428"/>
            <a:ext cx="5339562" cy="49457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buNone/>
            </a:pPr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구조적 일관성 지표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• 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월간 승률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55.1%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• 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평균 상승월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+8.6%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• 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평균 하락월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-6.3%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• Profit Factor: 1.96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• 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강세장 포착 </a:t>
            </a:r>
            <a:r>
              <a:rPr lang="en-US" altLang="ko-KR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/ </a:t>
            </a:r>
            <a:r>
              <a:rPr lang="ko-KR" altLang="en-US" sz="24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약세장 손실 감수 구조</a:t>
            </a:r>
          </a:p>
        </p:txBody>
      </p:sp>
    </p:spTree>
    <p:extLst>
      <p:ext uri="{BB962C8B-B14F-4D97-AF65-F5344CB8AC3E}">
        <p14:creationId xmlns:p14="http://schemas.microsoft.com/office/powerpoint/2010/main" val="413681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결과 해석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혼합 모멘텀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(6-1, 12-1)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의 유효성 확인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 제약을 통한 거래 안정성 개선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수익률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리스크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회전율 간 균형 확보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05A6388-B9CA-308B-6C12-9B5093898931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한계점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유니버스 고정에 따른 생존자 편향 가능성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파라미터 탐색 과정에서의 과최적화 위험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거래비용</a:t>
            </a:r>
            <a:r>
              <a:rPr lang="en-US" altLang="ko-KR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</a:t>
            </a: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슬리피지 단순화 가정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레짐 변화에 대한 명시적 대응 부재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B074156-80AE-150B-33E3-0FCA682554A2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혼합 모멘텀 기반 전략의 구조적 유효성 확인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쿨다운 제약을 통한 거래 안정성 개선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단일 최적화가 아닌 균형적 파라미터 선택의 중요성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ko-KR" altLang="en-US" sz="360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실전 적용을 위한 확장 가능성 확인</a:t>
            </a:r>
            <a:endParaRPr sz="360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F7E7331-05C3-3322-A547-7C9D6A5DC2F7}"/>
              </a:ext>
            </a:extLst>
          </p:cNvPr>
          <p:cNvCxnSpPr/>
          <p:nvPr/>
        </p:nvCxnSpPr>
        <p:spPr>
          <a:xfrm>
            <a:off x="0" y="142430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684</Words>
  <Application>Microsoft Office PowerPoint</Application>
  <PresentationFormat>와이드스크린</PresentationFormat>
  <Paragraphs>238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나눔고딕 ExtraBold</vt:lpstr>
      <vt:lpstr>Arial</vt:lpstr>
      <vt:lpstr>Calibri</vt:lpstr>
      <vt:lpstr>Office Theme</vt:lpstr>
      <vt:lpstr>알파 탐색을 위한 투자 인디케이터 개발</vt:lpstr>
      <vt:lpstr>프로젝트 배경과 문제의식</vt:lpstr>
      <vt:lpstr>프로젝트 목표</vt:lpstr>
      <vt:lpstr>팀 구성 및 역할</vt:lpstr>
      <vt:lpstr>데이터 및 유니버스</vt:lpstr>
      <vt:lpstr>모멘텀 인디케이터</vt:lpstr>
      <vt:lpstr>투자전략 개요</vt:lpstr>
      <vt:lpstr>쿨다운(Cooldown) 메커니즘</vt:lpstr>
      <vt:lpstr>백테스트 설계</vt:lpstr>
      <vt:lpstr>성과 지표</vt:lpstr>
      <vt:lpstr>파라미터 탐색 (Grid Search)</vt:lpstr>
      <vt:lpstr>Grid Search 결과 (상위 성과 조합)</vt:lpstr>
      <vt:lpstr>파라미터 민감도 분석</vt:lpstr>
      <vt:lpstr>대표 파라미터 조합 성과 (N=8, Cooldown=5)</vt:lpstr>
      <vt:lpstr>연도별 성과 분포와 구조적 특성</vt:lpstr>
      <vt:lpstr>결과 해석</vt:lpstr>
      <vt:lpstr>한계점</vt:lpstr>
      <vt:lpstr>결론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동호 김</cp:lastModifiedBy>
  <cp:revision>3</cp:revision>
  <dcterms:created xsi:type="dcterms:W3CDTF">2013-01-27T09:14:16Z</dcterms:created>
  <dcterms:modified xsi:type="dcterms:W3CDTF">2026-02-11T04:51:18Z</dcterms:modified>
  <cp:category/>
</cp:coreProperties>
</file>